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Week 5-6 Progress Update: Hybrid Architecture Grid Sweep &amp; System Blueprint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1277295" cy="45720"/>
          </a:xfrm>
          <a:prstGeom prst="rect">
            <a:avLst/>
          </a:prstGeom>
          <a:solidFill>
            <a:srgbClr val="2E75B6"/>
          </a:solidFill>
          <a:ln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  <a:latin typeface="Arial"/>
              </a:defRPr>
            </a:pPr>
            <a:r>
              <a:t>1. Experiments &amp; The "Semantic Trap" Verification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Data Integrity:</a:t>
            </a:r>
            <a:r>
              <a:rPr sz="1600">
                <a:solidFill>
                  <a:srgbClr val="404040"/>
                </a:solidFill>
                <a:latin typeface="Arial"/>
              </a:rPr>
              <a:t> Secured the 2018 mapping matrix via Alphabetical Zip Logic, ensuring a zero-leakage test environment.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Hybrid Architectures:</a:t>
            </a:r>
            <a:r>
              <a:rPr sz="1600">
                <a:solidFill>
                  <a:srgbClr val="404040"/>
                </a:solidFill>
                <a:latin typeface="Arial"/>
              </a:rPr>
              <a:t> Engineered LLM-driven 'Advanced Referee Prompting' (Originality, Methodology, Empirical Rigor, Relevance) and injected logit rewards (+1.0 to +2.0) into the econometric baseline.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Key Finding (The Semantic Trap):</a:t>
            </a:r>
            <a:r>
              <a:rPr sz="1600">
                <a:solidFill>
                  <a:srgbClr val="404040"/>
                </a:solidFill>
                <a:latin typeface="Arial"/>
              </a:rPr>
              <a:t> Escalating semantic rewards caused a catastrophic NDCG@K collapse (from 40.34% to 33.90%) at the extreme upper tail (K=8).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Conclusion:</a:t>
            </a:r>
            <a:r>
              <a:rPr sz="1600">
                <a:solidFill>
                  <a:srgbClr val="404040"/>
                </a:solidFill>
                <a:latin typeface="Arial"/>
              </a:rPr>
              <a:t> Pure textual rigor cannot override the structural causal network (Placerank, co-author momentum). The Vanilla IPW model remains the undisputed global maximum.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F4E79"/>
                </a:solidFill>
                <a:latin typeface="Arial"/>
              </a:defRPr>
            </a:pPr>
            <a:r>
              <a:t>2. Proposed System Architecture (For Discussion)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Current Status:</a:t>
            </a:r>
            <a:r>
              <a:rPr sz="1600">
                <a:solidFill>
                  <a:srgbClr val="404040"/>
                </a:solidFill>
                <a:latin typeface="Arial"/>
              </a:rPr>
              <a:t> Finalizing model lock; pivoting to system deployment planning.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System Blueprint:</a:t>
            </a:r>
            <a:r>
              <a:rPr sz="1600">
                <a:solidFill>
                  <a:srgbClr val="404040"/>
                </a:solidFill>
                <a:latin typeface="Arial"/>
              </a:rPr>
              <a:t> Designing a Stateful Multi-Step UI flowchart to illustrate the complete operational pipeline.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Dual-Track Routing Concept:</a:t>
            </a:r>
            <a:r>
              <a:rPr sz="1600">
                <a:solidFill>
                  <a:srgbClr val="404040"/>
                </a:solidFill>
                <a:latin typeface="Arial"/>
              </a:rPr>
              <a:t/>
            </a:r>
          </a:p>
          <a:p>
            <a:pPr lvl="1"/>
            <a:r>
              <a:rPr sz="1600">
                <a:solidFill>
                  <a:srgbClr val="404040"/>
                </a:solidFill>
                <a:latin typeface="Arial"/>
              </a:rPr>
              <a:t>Enterprise Track: Batch evaluation with Semantic Tag Diminution.</a:t>
            </a:r>
          </a:p>
          <a:p>
            <a:pPr lvl="1"/>
            <a:r>
              <a:rPr sz="1600">
                <a:solidFill>
                  <a:srgbClr val="404040"/>
                </a:solidFill>
                <a:latin typeface="Arial"/>
              </a:rPr>
              <a:t>Applicant Track: Explainable AI (XAI) dashboard with counterfactual feedback loops.</a:t>
            </a:r>
          </a:p>
          <a:p>
            <a:pPr>
              <a:spcBef>
                <a:spcPts val="2400"/>
              </a:spcBef>
              <a:defRPr sz="2000" b="1">
                <a:solidFill>
                  <a:srgbClr val="1F4E79"/>
                </a:solidFill>
                <a:latin typeface="Arial"/>
              </a:defRPr>
            </a:pPr>
            <a:r>
              <a:t>3. Next Steps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Model:</a:t>
            </a:r>
            <a:r>
              <a:rPr sz="1600">
                <a:solidFill>
                  <a:srgbClr val="404040"/>
                </a:solidFill>
                <a:latin typeface="Arial"/>
              </a:rPr>
              <a:t> Lock the analytical repository and Vanilla IPW framework.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Drafting:</a:t>
            </a:r>
            <a:r>
              <a:rPr sz="1600">
                <a:solidFill>
                  <a:srgbClr val="404040"/>
                </a:solidFill>
                <a:latin typeface="Arial"/>
              </a:rPr>
              <a:t> Translate the 'Semantic Trap' findings into the core Discussion chapter of the thesis.</a:t>
            </a:r>
          </a:p>
          <a:p>
            <a:pPr>
              <a:spcBef>
                <a:spcPts val="1000"/>
              </a:spcBef>
            </a:pPr>
            <a:r>
              <a:rPr sz="1600" b="1">
                <a:solidFill>
                  <a:srgbClr val="404040"/>
                </a:solidFill>
                <a:latin typeface="Arial"/>
              </a:rPr>
              <a:t>Engineering:</a:t>
            </a:r>
            <a:r>
              <a:rPr sz="1600">
                <a:solidFill>
                  <a:srgbClr val="404040"/>
                </a:solidFill>
                <a:latin typeface="Arial"/>
              </a:rPr>
              <a:t> Finalize the full system flowchart design to guide the upcoming web UI construction.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