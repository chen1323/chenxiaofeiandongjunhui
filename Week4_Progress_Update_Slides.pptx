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ML Baseline: Pure Causal Replication &amp; Sandbox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Pristine Replication:</a:t>
            </a:r>
            <a:r>
              <a:rPr sz="2000"/>
              <a:t> Rebuilt 100% vanilla Inverse Probability Weighting (IPW) framework to match JAE paper benchmarks exactly.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Zero ML Heuristics:</a:t>
            </a:r>
            <a:r>
              <a:rPr sz="2000"/>
              <a:t> Eliminated class_weight='balanced' and SMOTE to guarantee pure econometric uncalibrated consistency.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The Overfitting Ceiling:</a:t>
            </a:r>
            <a:r>
              <a:rPr sz="2000"/>
              <a:t> Proved advanced ML hacks (Elastic Net, OOF Meta-Fusion) collapse dense embedding manifolds in small-N, rare-event regimes (N ≈ 400, base rate ≈ 5%).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22860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Paper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NDCG@K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57.85%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57.27%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NDCG@K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64.48%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64.48%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Precision@K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Cold-Start Entity Alignment &amp; Temporal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The Alignment Trap:</a:t>
            </a:r>
            <a:r>
              <a:rPr sz="2000"/>
              <a:t> Filtered CSV row indices (439-569) were fully anonymized; raw PDF directories used disjoint, chaotic file-naming.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Alphabetical Zip Discovery:</a:t>
            </a:r>
            <a:r>
              <a:rPr sz="2000"/>
              <a:t> Uncovered that sequential alphabetical sorting of raw PDF folders perfectly mirrors the 1:1 progression of the CSV row progression.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Deterministic Mapping:</a:t>
            </a:r>
            <a:r>
              <a:rPr sz="2000"/>
              <a:t> Locked down a flawless candidate_mapping.csv matrix to unblock both prompting and peer fine-tuning tracks.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Temporal Protection Layer:</a:t>
            </a:r>
            <a:r>
              <a:rPr sz="2000"/>
              <a:t> Parsed JMP text strictly up to jmp_intro_char_limit (first 10 pages), physically stripping Appendices and References to eliminate Look-Ahead Bias.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Dual-Track Zero-Shot LLM Benchmarks &amp; The 'Semantic Trap'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Track A (GPT-2 Large):</a:t>
            </a:r>
            <a:r>
              <a:rPr sz="2000"/>
              <a:t> Collapsed into random noise (AUC ≈ 49.60%) due to strict 1,024-token context constraints truncating the JMP.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Track B (Gemini Flash):</a:t>
            </a:r>
            <a:r>
              <a:rPr sz="2000"/>
              <a:t> Successfully leveraged anti-bias CoT and name scrubbing to extract granular signals, but hit a strict 16.67% Precision ceiling.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The Semantic Trap:</a:t>
            </a:r>
            <a:r>
              <a:rPr sz="2000"/>
              <a:t> Zero-shot LLMs over-index on writing rhetoric and topic interest. Long-term productivity is driven by latent causal graphs (Placerank, co-authorship topologies) captured only by our IPW baseline.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114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Vanilla IPW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Track A (GPT-2)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Track B (Gemini)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Precision@K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16.67%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NDCG@K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64.48%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15.13%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15.13%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1091.67%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363.89%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363.89%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81.33%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56.73%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16.67%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Next Steps: System Optimization &amp; Architectural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Few-Shot Prompting Transition:</a:t>
            </a:r>
            <a:r>
              <a:rPr sz="2000"/>
              <a:t> Inject historical 2017 text anchors (1 True Positive, 1 True Negative) to teach Gemini cross-candidate calibration.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Unblocking Peer Finetuning:</a:t>
            </a:r>
            <a:r>
              <a:rPr sz="2000"/>
              <a:t> Provide the master candidate_mapping.csv to map the raw text data directly to the outcome classification heads.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b="1" sz="2000"/>
              <a:t>Hybrid Fusion Modeling:</a:t>
            </a:r>
            <a:r>
              <a:rPr sz="2000"/>
              <a:t> Extract Gemini's continuous text confidence logits and feed them back into the IPW model as a structured covariate to test if Semantic Intuition + Causal Weighting can shatter the 64.48%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