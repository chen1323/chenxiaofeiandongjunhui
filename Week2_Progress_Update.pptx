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6143"/>
  </p:normalViewPr>
  <p:slideViewPr>
    <p:cSldViewPr snapToGrid="0" snapToObjects="1">
      <p:cViewPr>
        <p:scale>
          <a:sx n="100" d="100"/>
          <a:sy n="100" d="100"/>
        </p:scale>
        <p:origin x="808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74210-B37C-054D-88A3-9B74AE4DA67D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EC33C-7B92-8D49-8A73-2AD0CEE9B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8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C33C-7B92-8D49-8A73-2AD0CEE9BB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96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4E79"/>
                </a:solidFill>
                <a:latin typeface="Arial"/>
              </a:defRPr>
            </a:pPr>
            <a:r>
              <a:rPr sz="2400" dirty="0"/>
              <a:t>Weeks 1-2: Replicated SMOTE Baseline and Engineered De-biased LLM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2726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Arial"/>
              </a:defRPr>
            </a:pPr>
            <a:r>
              <a:rPr dirty="0"/>
              <a:t>1. Progress Achieved (Weeks 1-2)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35007"/>
            <a:ext cx="1109167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C</a:t>
            </a:r>
            <a:r>
              <a:rPr sz="1400" dirty="0"/>
              <a:t>onfigured Python environment and replicated the paper’s 'Late-Fusion Logistic Regression' baseline on the 2015-2018 rookie dataset</a:t>
            </a:r>
            <a:endParaRPr lang="en-US" sz="1400" dirty="0"/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Final Baseline Metrics: </a:t>
            </a:r>
            <a:r>
              <a:rPr sz="1400" dirty="0" err="1"/>
              <a:t>Precision@K</a:t>
            </a:r>
            <a:r>
              <a:rPr lang="en-US" sz="1400" dirty="0"/>
              <a:t>: 50.00% </a:t>
            </a:r>
            <a:r>
              <a:rPr sz="1400" dirty="0"/>
              <a:t>, NDCG@K</a:t>
            </a:r>
            <a:r>
              <a:rPr lang="en-US" sz="1400" dirty="0"/>
              <a:t>: 51.49%</a:t>
            </a:r>
            <a:r>
              <a:rPr sz="1400" dirty="0"/>
              <a:t>, ROC-AUC</a:t>
            </a:r>
            <a:r>
              <a:rPr lang="en-US" sz="1400" dirty="0"/>
              <a:t>: 83.94%</a:t>
            </a:r>
            <a:r>
              <a:rPr sz="1400" dirty="0"/>
              <a:t>, F1-Score</a:t>
            </a:r>
            <a:r>
              <a:rPr lang="en-US" sz="1400" dirty="0"/>
              <a:t>: 32.43%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Automated LLM prompting p</a:t>
            </a:r>
            <a:r>
              <a:rPr lang="en-SG" sz="1400" dirty="0" err="1"/>
              <a:t>ipeline</a:t>
            </a:r>
            <a:r>
              <a:rPr lang="en-SG" sz="1400" dirty="0"/>
              <a:t>: PDF extraction (to parse </a:t>
            </a:r>
            <a:r>
              <a:rPr lang="en-SG" sz="1400" dirty="0" err="1"/>
              <a:t>docuemnts</a:t>
            </a:r>
            <a:r>
              <a:rPr lang="en-SG" sz="1400" dirty="0"/>
              <a:t>) and anonymization (to mitigate ‘look-ahead </a:t>
            </a:r>
            <a:r>
              <a:rPr lang="en-SG" sz="1400" dirty="0" err="1"/>
              <a:t>bias’</a:t>
            </a:r>
            <a:r>
              <a:rPr lang="en-SG" sz="1400" dirty="0"/>
              <a:t>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sz="1400" dirty="0"/>
              <a:t>Integrated Gemini API for zero-shot candidate evaluation with structured JSON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60188"/>
            <a:ext cx="36888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Arial"/>
              </a:defRPr>
            </a:pPr>
            <a:r>
              <a:rPr dirty="0"/>
              <a:t>2. Key Challenges &amp;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780" y="3623595"/>
            <a:ext cx="11091672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lang="en-SG" sz="1400" dirty="0"/>
              <a:t>Baseline Methodology Gap: severely underperformed</a:t>
            </a:r>
            <a:r>
              <a:rPr sz="1400" dirty="0"/>
              <a:t> (NDCG 30.41%) when strictly implementing IPW procedure due to missing institutional classification data. SMOTE oversampling was critical to achieving the paper’s 50% Precision benchmark.</a:t>
            </a:r>
            <a:endParaRPr lang="en-US" sz="1400" dirty="0"/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LLM</a:t>
            </a:r>
            <a:r>
              <a:rPr sz="1400" dirty="0"/>
              <a:t> 'Prestige Trap': Initial zero-shot LLMs mirror human</a:t>
            </a:r>
            <a:r>
              <a:rPr lang="en-US" sz="1400" dirty="0"/>
              <a:t>, </a:t>
            </a:r>
            <a:r>
              <a:rPr sz="1400" dirty="0"/>
              <a:t>over</a:t>
            </a:r>
            <a:r>
              <a:rPr lang="en-US" sz="1400" dirty="0"/>
              <a:t>valuing </a:t>
            </a:r>
            <a:r>
              <a:rPr sz="1400" dirty="0"/>
              <a:t>elite PhD school prestige.</a:t>
            </a:r>
            <a:r>
              <a:rPr lang="en-US" sz="1400" dirty="0"/>
              <a:t> Developed a  COT prompt to de-bias the LLM, forcing objective evaluation of true “Research Momentum”.</a:t>
            </a:r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4743592"/>
            <a:ext cx="44504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Arial"/>
              </a:defRPr>
            </a:pPr>
            <a:r>
              <a:rPr dirty="0"/>
              <a:t>3. Strategic Next Steps (Weeks 3-5)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07000"/>
            <a:ext cx="1109167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lang="en-US" sz="1400" dirty="0">
                <a:solidFill>
                  <a:srgbClr val="2D2D2D"/>
                </a:solidFill>
                <a:latin typeface="Arial"/>
              </a:rPr>
              <a:t>Full Batch Run: Evaluate the 2018 cohort via the de-biased </a:t>
            </a:r>
            <a:r>
              <a:rPr lang="en-US" sz="1400" dirty="0" err="1">
                <a:solidFill>
                  <a:srgbClr val="2D2D2D"/>
                </a:solidFill>
                <a:latin typeface="Arial"/>
              </a:rPr>
              <a:t>CoT</a:t>
            </a:r>
            <a:r>
              <a:rPr lang="en-US" sz="1400" dirty="0">
                <a:solidFill>
                  <a:srgbClr val="2D2D2D"/>
                </a:solidFill>
                <a:latin typeface="Arial"/>
              </a:rPr>
              <a:t> pipeline.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lang="en-US" sz="1400" dirty="0">
                <a:solidFill>
                  <a:srgbClr val="2D2D2D"/>
                </a:solidFill>
                <a:latin typeface="Arial"/>
              </a:rPr>
              <a:t>Head-to-Head Comparison: Compare LLM accuracy vs. the SMOTE-ML baseline.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lang="en-US" sz="1400" dirty="0">
                <a:solidFill>
                  <a:srgbClr val="2D2D2D"/>
                </a:solidFill>
                <a:latin typeface="Arial"/>
              </a:rPr>
              <a:t>Hybrid Integration: Feed LLM-extracted features into </a:t>
            </a:r>
            <a:r>
              <a:rPr lang="en-US" sz="1400" dirty="0" err="1">
                <a:solidFill>
                  <a:srgbClr val="2D2D2D"/>
                </a:solidFill>
                <a:latin typeface="Arial"/>
              </a:rPr>
              <a:t>XGBoost</a:t>
            </a:r>
            <a:r>
              <a:rPr lang="en-US" sz="1400" dirty="0">
                <a:solidFill>
                  <a:srgbClr val="2D2D2D"/>
                </a:solidFill>
                <a:latin typeface="Arial"/>
              </a:rPr>
              <a:t>/</a:t>
            </a:r>
            <a:r>
              <a:rPr lang="en-US" sz="1400" dirty="0" err="1">
                <a:solidFill>
                  <a:srgbClr val="2D2D2D"/>
                </a:solidFill>
                <a:latin typeface="Arial"/>
              </a:rPr>
              <a:t>LightGBM</a:t>
            </a:r>
            <a:r>
              <a:rPr lang="en-US" sz="1400" dirty="0">
                <a:solidFill>
                  <a:srgbClr val="2D2D2D"/>
                </a:solidFill>
                <a:latin typeface="Arial"/>
              </a:rPr>
              <a:t>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rial"/>
              </a:defRPr>
            </a:pPr>
            <a:r>
              <a:rPr lang="en-US" sz="1400" dirty="0">
                <a:solidFill>
                  <a:srgbClr val="2D2D2D"/>
                </a:solidFill>
                <a:latin typeface="Arial"/>
              </a:rPr>
              <a:t>Fine-Tuning: Initiate LLM fine-tuning experiments on the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r>
              <a:rPr dirty="0"/>
              <a:t>Capstone Project: Identifying Research Talent using ML/LLMs  |  Status Update: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246</Words>
  <Application>Microsoft Macintosh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Xiaofei</cp:lastModifiedBy>
  <cp:revision>3</cp:revision>
  <dcterms:created xsi:type="dcterms:W3CDTF">2013-01-27T09:14:16Z</dcterms:created>
  <dcterms:modified xsi:type="dcterms:W3CDTF">2026-05-07T17:13:21Z</dcterms:modified>
  <cp:category/>
</cp:coreProperties>
</file>